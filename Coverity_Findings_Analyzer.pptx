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0" y="109728"/>
            <a:ext cx="411480" cy="411480"/>
          </a:xfrm>
          <a:prstGeom prst="ellipse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34640" y="457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A7024"/>
                </a:solidFill>
                <a:latin typeface="Calibri"/>
              </a:defRPr>
            </a:pPr>
            <a:r>
              <a:t>COVERITY FINDINGS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8534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D7DEEB"/>
                </a:solidFill>
                <a:latin typeface="Calibri"/>
              </a:defRPr>
            </a:pPr>
            <a:r>
              <a:t>AI-Developed, Rule-Based Static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18288"/>
          </a:xfrm>
          <a:prstGeom prst="rect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A7024"/>
                </a:solidFill>
                <a:latin typeface="Calibri"/>
              </a:defRPr>
            </a:pPr>
            <a:r>
              <a:t>🎯  CORE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Aerospace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819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DO-178C, MISRA,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100% Secure &amp;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391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Source never leaves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No AI Tokens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963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Runs 100%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Reduces SME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53512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D7DEEB"/>
                </a:solidFill>
                <a:latin typeface="Calibri"/>
              </a:defRPr>
            </a:pPr>
            <a:r>
              <a:t>- 80% reduction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051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A7024"/>
                </a:solidFill>
                <a:latin typeface="Calibri"/>
              </a:defRPr>
            </a:pPr>
            <a:r>
              <a:t>⚖  WORK DETAILS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1417320"/>
            <a:ext cx="1691640" cy="329184"/>
          </a:xfrm>
          <a:prstGeom prst="roundRect">
            <a:avLst/>
          </a:prstGeom>
          <a:solidFill>
            <a:srgbClr val="3A1515"/>
          </a:solidFill>
          <a:ln w="12700">
            <a:solidFill>
              <a:srgbClr val="FA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5555"/>
                </a:solidFill>
              </a:defRPr>
            </a:pPr>
            <a:r>
              <a:t>MANUAL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77840" y="1417320"/>
            <a:ext cx="1691640" cy="329184"/>
          </a:xfrm>
          <a:prstGeom prst="roundRect">
            <a:avLst/>
          </a:prstGeom>
          <a:solidFill>
            <a:srgbClr val="0F2E1A"/>
          </a:solidFill>
          <a:ln w="12700">
            <a:solidFill>
              <a:srgbClr val="FA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CC66"/>
                </a:solidFill>
              </a:defRPr>
            </a:pPr>
            <a:r>
              <a:t>WITH 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178308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10-15 minutes</a:t>
            </a:r>
          </a:p>
          <a:p>
            <a:r>
              <a:t>per defect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178308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1-2 minutes</a:t>
            </a:r>
          </a:p>
          <a:p>
            <a:r>
              <a:t>per defect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214884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Source Code Investigation</a:t>
            </a:r>
          </a:p>
          <a:p>
            <a:r>
              <a:t>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14884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Automated</a:t>
            </a:r>
          </a:p>
          <a:p>
            <a:r>
              <a:t>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51460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Context Analysis</a:t>
            </a:r>
          </a:p>
          <a:p>
            <a:r>
              <a:t>Required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51460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One Controlled</a:t>
            </a:r>
          </a:p>
          <a:p>
            <a:r>
              <a:t>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2880360"/>
            <a:ext cx="1691640" cy="329184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D7DEEB"/>
                </a:solidFill>
              </a:defRPr>
            </a:pPr>
            <a:r>
              <a:t>Disposition &amp;</a:t>
            </a:r>
          </a:p>
          <a:p>
            <a:r>
              <a:t>Documentation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77840" y="2880360"/>
            <a:ext cx="1691640" cy="329184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Higher</a:t>
            </a:r>
          </a:p>
          <a:p>
            <a:r>
              <a:t>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28269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A7024"/>
                </a:solidFill>
                <a:latin typeface="Calibri"/>
              </a:defRPr>
            </a:pPr>
            <a:r>
              <a:t>~90%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575303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D7DEEB"/>
                </a:solidFill>
                <a:latin typeface="Calibri"/>
              </a:defRPr>
            </a:pPr>
            <a:r>
              <a:t>Time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891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A7024"/>
                </a:solidFill>
                <a:latin typeface="Calibri"/>
              </a:defRPr>
            </a:pPr>
            <a:r>
              <a:t>💰  COST SAVINGS PER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18304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RL1 (1,000 defects): 250 hrs → 33 hrs 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718304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A7024"/>
                </a:solidFill>
                <a:latin typeface="Calibri"/>
              </a:defRPr>
            </a:pPr>
            <a:r>
              <a:t>217 hrs SAVED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4681728"/>
            <a:ext cx="1097280" cy="256032"/>
          </a:xfrm>
          <a:prstGeom prst="roundRect">
            <a:avLst/>
          </a:prstGeom>
          <a:solidFill>
            <a:srgbClr val="231C05"/>
          </a:solidFill>
          <a:ln w="19050">
            <a:solidFill>
              <a:srgbClr val="FFE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E114"/>
                </a:solidFill>
              </a:defRPr>
            </a:pPr>
            <a:r>
              <a:t>★ ($7k) 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010912"/>
            <a:ext cx="3383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Program (4,000 defects): 1000 hrs → 133 hrs 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010912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A7024"/>
                </a:solidFill>
                <a:latin typeface="Calibri"/>
              </a:defRPr>
            </a:pPr>
            <a:r>
              <a:t>867 hrs SAVED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4974336"/>
            <a:ext cx="1188720" cy="256032"/>
          </a:xfrm>
          <a:prstGeom prst="roundRect">
            <a:avLst/>
          </a:prstGeom>
          <a:solidFill>
            <a:srgbClr val="231C05"/>
          </a:solidFill>
          <a:ln w="19050">
            <a:solidFill>
              <a:srgbClr val="FFE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E114"/>
                </a:solidFill>
              </a:defRPr>
            </a:pPr>
            <a:r>
              <a:t>★ ($30k) 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303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00E5FF"/>
                </a:solidFill>
                <a:latin typeface="Calibri"/>
              </a:defRPr>
            </a:pPr>
            <a:r>
              <a:t>Deployed in — NG-FMS ATS Core EPP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5541264"/>
            <a:ext cx="5943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Calibri"/>
              </a:defRPr>
            </a:pPr>
            <a:r>
              <a:t>• 143 defects pushed in the EPP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60720"/>
            <a:ext cx="6858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D7DEEB"/>
                </a:solidFill>
                <a:latin typeface="Calibri"/>
              </a:defRPr>
            </a:pPr>
            <a:r>
              <a:t>• Manual push: 143 min (≈1 min per defect)   →   Tool push: ~3 min (one batch)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2286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32FF82"/>
                </a:solidFill>
                <a:latin typeface="Calibri"/>
              </a:defRPr>
            </a:pPr>
            <a:r>
              <a:t>• Saved on push: ~140 min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5943600"/>
            <a:ext cx="1005840" cy="237744"/>
          </a:xfrm>
          <a:prstGeom prst="roundRect">
            <a:avLst/>
          </a:prstGeom>
          <a:solidFill>
            <a:srgbClr val="231C05"/>
          </a:solidFill>
          <a:ln w="19050">
            <a:solidFill>
              <a:srgbClr val="FFE1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E114"/>
                </a:solidFill>
              </a:defRPr>
            </a:pPr>
            <a:r>
              <a:t>★ ($84) 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39" y="5980176"/>
            <a:ext cx="3200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32FF82"/>
                </a:solidFill>
                <a:latin typeface="Calibri"/>
              </a:defRPr>
            </a:pPr>
            <a:r>
              <a:t>(≈99% faster, 2.4 hrs)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23620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1">
                <a:solidFill>
                  <a:srgbClr val="00E5FF"/>
                </a:solidFill>
                <a:latin typeface="Calibri"/>
              </a:defRPr>
            </a:pPr>
            <a:r>
              <a:t>Future Targeted Programs: Datalink (787, AIMS, EPIC), TXD across all CNS products, and all other HonAero Departments...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8079" y="1280160"/>
            <a:ext cx="146304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📄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Coverity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1051560"/>
            <a:ext cx="1463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D7DEEB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869680" y="1691640"/>
            <a:ext cx="640080" cy="274320"/>
          </a:xfrm>
          <a:prstGeom prst="rightArrow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418319" y="128016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🌳</a:t>
            </a:r>
          </a:p>
          <a:p>
            <a:pPr algn="ctr">
              <a:defRPr sz="1000">
                <a:solidFill>
                  <a:srgbClr val="00E5FF"/>
                </a:solidFill>
              </a:defRPr>
            </a:pPr>
            <a:r>
              <a:t>Tree-sitter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3999" y="91440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D7DEEB"/>
                </a:solidFill>
                <a:latin typeface="Calibri"/>
              </a:defRPr>
            </a:pPr>
            <a:r>
              <a:t>Processing Stage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3999" y="1051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Source Parser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10241280" y="2331720"/>
            <a:ext cx="274320" cy="457200"/>
          </a:xfrm>
          <a:prstGeom prst="downArrow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418319" y="2743200"/>
            <a:ext cx="219456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A70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⚙️</a:t>
            </a:r>
          </a:p>
          <a:p>
            <a:pPr algn="ctr">
              <a:defRPr sz="1200" b="1">
                <a:solidFill>
                  <a:srgbClr val="FA7024"/>
                </a:solidFill>
              </a:defRPr>
            </a:pPr>
            <a:r>
              <a:t>Rule Engine</a:t>
            </a:r>
          </a:p>
          <a:p>
            <a:pPr algn="ctr">
              <a:defRPr sz="900">
                <a:solidFill>
                  <a:srgbClr val="D7DEEB"/>
                </a:solidFill>
              </a:defRPr>
            </a:pPr>
            <a:r>
              <a:t>20+ Checker Rules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3999" y="246888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D7DEEB"/>
                </a:solidFill>
                <a:latin typeface="Calibri"/>
              </a:defRPr>
            </a:pPr>
            <a:r>
              <a:t>Processing Stage 2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10332719" y="3840480"/>
            <a:ext cx="320040" cy="457200"/>
          </a:xfrm>
          <a:prstGeom prst="downArrow">
            <a:avLst/>
          </a:prstGeom>
          <a:solidFill>
            <a:srgbClr val="FA7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01200" y="438912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✅</a:t>
            </a:r>
          </a:p>
          <a:p>
            <a:pPr algn="ctr">
              <a:defRPr sz="1100" b="1">
                <a:solidFill>
                  <a:srgbClr val="00CC66"/>
                </a:solidFill>
              </a:defRPr>
            </a:pPr>
            <a:r>
              <a:t>Smart</a:t>
            </a:r>
          </a:p>
          <a:p>
            <a:pPr algn="ctr">
              <a:defRPr sz="1100">
                <a:solidFill>
                  <a:srgbClr val="00CC66"/>
                </a:solidFill>
              </a:defRPr>
            </a:pPr>
            <a:r>
              <a:t>Dispositions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79" y="56692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D7DEEB"/>
                </a:solidFill>
                <a:latin typeface="Calibri"/>
              </a:defRPr>
            </a:pPr>
            <a:r>
              <a:t>AI used to DEVELOP, analysis is RULE-BASED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