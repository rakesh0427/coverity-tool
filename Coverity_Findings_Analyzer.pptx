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77440" y="109728"/>
            <a:ext cx="411480" cy="4114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0" y="457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6B00"/>
                </a:solidFill>
                <a:latin typeface="Calibri"/>
              </a:defRPr>
            </a:pPr>
            <a:r>
              <a:t>COVERITY FINDINGS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8534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Calibri"/>
              </a:defRPr>
            </a:pPr>
            <a:r>
              <a:t>AI-Developed, Rule-Based Static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1828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  CORE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Aerospace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  DO-178C, MISRA, CERT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100% Secure &amp;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  Source never leaves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 AI Tokens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  Runs 100%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Reduces SME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  80%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0515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⚖  WORK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417320"/>
            <a:ext cx="2103120" cy="384048"/>
          </a:xfrm>
          <a:prstGeom prst="roundRect">
            <a:avLst/>
          </a:prstGeom>
          <a:solidFill>
            <a:srgbClr val="3A1515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MANUAL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1417320"/>
            <a:ext cx="2103120" cy="384048"/>
          </a:xfrm>
          <a:prstGeom prst="roundRect">
            <a:avLst/>
          </a:prstGeom>
          <a:solidFill>
            <a:srgbClr val="0F2E1A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C66"/>
                </a:solidFill>
              </a:defRPr>
            </a:pPr>
            <a:r>
              <a:t>WITH TOOL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1837943"/>
            <a:ext cx="2103120" cy="384048"/>
          </a:xfrm>
          <a:prstGeom prst="roundRect">
            <a:avLst/>
          </a:prstGeom>
          <a:solidFill>
            <a:srgbClr val="3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>
                <a:solidFill>
                  <a:srgbClr val="CCCCDD"/>
                </a:solidFill>
              </a:defRPr>
            </a:pPr>
            <a:r>
              <a:t>⏱ 10-15 min / defect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1837943"/>
            <a:ext cx="2103120" cy="384048"/>
          </a:xfrm>
          <a:prstGeom prst="roundRect">
            <a:avLst/>
          </a:prstGeom>
          <a:solidFill>
            <a:srgbClr val="0F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⚡ 1-2 min / defect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258568"/>
            <a:ext cx="2103120" cy="384048"/>
          </a:xfrm>
          <a:prstGeom prst="roundRect">
            <a:avLst/>
          </a:prstGeom>
          <a:solidFill>
            <a:srgbClr val="3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>
                <a:solidFill>
                  <a:srgbClr val="CCCCDD"/>
                </a:solidFill>
              </a:defRPr>
            </a:pPr>
            <a:r>
              <a:t>🔍 Source Code Investigation Required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2258568"/>
            <a:ext cx="2103120" cy="384048"/>
          </a:xfrm>
          <a:prstGeom prst="roundRect">
            <a:avLst/>
          </a:prstGeom>
          <a:solidFill>
            <a:srgbClr val="0F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🤖 Automated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2679191"/>
            <a:ext cx="2103120" cy="384048"/>
          </a:xfrm>
          <a:prstGeom prst="roundRect">
            <a:avLst/>
          </a:prstGeom>
          <a:solidFill>
            <a:srgbClr val="3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>
                <a:solidFill>
                  <a:srgbClr val="CCCCDD"/>
                </a:solidFill>
              </a:defRPr>
            </a:pPr>
            <a:r>
              <a:t>🧠 Context Analysis Required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2679191"/>
            <a:ext cx="2103120" cy="384048"/>
          </a:xfrm>
          <a:prstGeom prst="roundRect">
            <a:avLst/>
          </a:prstGeom>
          <a:solidFill>
            <a:srgbClr val="0F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✅ One Controlled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099815"/>
            <a:ext cx="2103120" cy="384048"/>
          </a:xfrm>
          <a:prstGeom prst="roundRect">
            <a:avLst/>
          </a:prstGeom>
          <a:solidFill>
            <a:srgbClr val="3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>
                <a:solidFill>
                  <a:srgbClr val="CCCCDD"/>
                </a:solidFill>
              </a:defRPr>
            </a:pPr>
            <a:r>
              <a:t>📝 Disposition &amp; Documentation Required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3099815"/>
            <a:ext cx="2103120" cy="384048"/>
          </a:xfrm>
          <a:prstGeom prst="roundRect">
            <a:avLst/>
          </a:prstGeom>
          <a:solidFill>
            <a:srgbClr val="0F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📊 Higher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3593591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6B00"/>
                </a:solidFill>
                <a:latin typeface="Calibri"/>
              </a:defRPr>
            </a:pPr>
            <a:r>
              <a:t>~90%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3941063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Time Reduction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348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B00"/>
                </a:solidFill>
                <a:latin typeface="Calibri"/>
              </a:defRPr>
            </a:pPr>
            <a:r>
              <a:t>💰  COST SAVINGS PER PROGRAM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27448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RL1 (1,000 defects): 250 hrs → 33 hrs =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72744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6B00"/>
                </a:solidFill>
                <a:latin typeface="Calibri"/>
              </a:defRPr>
            </a:pPr>
            <a:r>
              <a:t>217 hrs SAVED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727448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CC00"/>
                </a:solidFill>
                <a:latin typeface="Calibri"/>
              </a:defRPr>
            </a:pPr>
            <a:r>
              <a:t>*($7k)*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956048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Program (4,000 defects): 1,000 hrs → 133 hrs =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95604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6B00"/>
                </a:solidFill>
                <a:latin typeface="Calibri"/>
              </a:defRPr>
            </a:pPr>
            <a:r>
              <a:t>867 hrs SAVED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956048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CC00"/>
                </a:solidFill>
                <a:latin typeface="Calibri"/>
              </a:defRPr>
            </a:pPr>
            <a:r>
              <a:t>*($30k)*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30368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CCFF"/>
                </a:solidFill>
                <a:latin typeface="Calibri"/>
              </a:defRPr>
            </a:pPr>
            <a:r>
              <a:t>Real Saving — NG-FMS ATS Core EPP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58968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143 defects analysed + pushed in the EPP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60136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• Manual push: 143 min (≈1 min per defect)   →   Tool push: ~3 min (one batch)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861303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3FF88"/>
                </a:solidFill>
                <a:latin typeface="Calibri"/>
              </a:defRPr>
            </a:pPr>
            <a:r>
              <a:t>• Saved on push: ~140 min ($84) (≈99% faster, 2.4 hrs)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117336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9933"/>
                </a:solidFill>
                <a:latin typeface="Calibri"/>
              </a:defRPr>
            </a:pPr>
            <a:r>
              <a:t>Future Targeted programs are  Datalink(787,AIMS,EPIC), TXD along all CNS products and all other HonAero Departments....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1280160"/>
            <a:ext cx="1463040" cy="10972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📄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Coverity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105156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869680" y="1691640"/>
            <a:ext cx="640080" cy="27432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418319" y="1280160"/>
            <a:ext cx="1828800" cy="10972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🌳</a:t>
            </a:r>
          </a:p>
          <a:p>
            <a:pPr algn="ctr">
              <a:defRPr sz="1000">
                <a:solidFill>
                  <a:srgbClr val="00CCFF"/>
                </a:solidFill>
              </a:defRPr>
            </a:pPr>
            <a:r>
              <a:t>Tree-sitter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3999" y="914400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Calibri"/>
              </a:defRPr>
            </a:pPr>
            <a:r>
              <a:t>Processing Stage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3999" y="10515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Source Parser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10241280" y="2331720"/>
            <a:ext cx="274320" cy="457200"/>
          </a:xfrm>
          <a:prstGeom prst="down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418319" y="2743200"/>
            <a:ext cx="2194560" cy="10972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⚙️</a:t>
            </a:r>
          </a:p>
          <a:p>
            <a:pPr algn="ctr">
              <a:defRPr sz="1200" b="1">
                <a:solidFill>
                  <a:srgbClr val="FF6B00"/>
                </a:solidFill>
              </a:defRPr>
            </a:pPr>
            <a:r>
              <a:t>Rule Engine</a:t>
            </a:r>
          </a:p>
          <a:p>
            <a:pPr algn="ctr">
              <a:defRPr sz="900">
                <a:solidFill>
                  <a:srgbClr val="CCCCDD"/>
                </a:solidFill>
              </a:defRPr>
            </a:pPr>
            <a:r>
              <a:t>20+ Checker Rules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3999" y="24688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Calibri"/>
              </a:defRPr>
            </a:pPr>
            <a:r>
              <a:t>Processing Stage 2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10332719" y="3840480"/>
            <a:ext cx="320040" cy="457200"/>
          </a:xfrm>
          <a:prstGeom prst="down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601200" y="4389120"/>
            <a:ext cx="1828800" cy="10972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✅</a:t>
            </a:r>
          </a:p>
          <a:p>
            <a:pPr algn="ctr">
              <a:defRPr sz="1100" b="1">
                <a:solidFill>
                  <a:srgbClr val="00CC66"/>
                </a:solidFill>
              </a:defRPr>
            </a:pPr>
            <a:r>
              <a:t>Smart</a:t>
            </a:r>
          </a:p>
          <a:p>
            <a:pPr algn="ctr">
              <a:defRPr sz="1100">
                <a:solidFill>
                  <a:srgbClr val="00CC66"/>
                </a:solidFill>
              </a:defRPr>
            </a:pPr>
            <a:r>
              <a:t>Dispositions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79" y="56692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CCCCDD"/>
                </a:solidFill>
                <a:latin typeface="Calibri"/>
              </a:defRPr>
            </a:pPr>
            <a:r>
              <a:t>AI used to DEVELOP, analysis is RULE-BASED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