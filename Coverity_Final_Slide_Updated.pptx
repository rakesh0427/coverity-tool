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Honeywell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CCCCDD"/>
                </a:solidFill>
                <a:latin typeface="Calibri"/>
              </a:defRPr>
            </a:pPr>
            <a:r>
              <a:t>Aerospace</a:t>
            </a:r>
          </a:p>
        </p:txBody>
      </p:sp>
      <p:sp>
        <p:nvSpPr>
          <p:cNvPr id="4" name="Oval 3"/>
          <p:cNvSpPr/>
          <p:nvPr/>
        </p:nvSpPr>
        <p:spPr>
          <a:xfrm>
            <a:off x="2743200" y="91440"/>
            <a:ext cx="411480" cy="411480"/>
          </a:xfrm>
          <a:prstGeom prst="ellipse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0" y="45720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6B00"/>
                </a:solidFill>
                <a:latin typeface="Calibri"/>
              </a:defRPr>
            </a:pPr>
            <a:r>
              <a:t>COVERITY FINDINGS ANALYZER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50292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0">
                <a:solidFill>
                  <a:srgbClr val="CCCCDD"/>
                </a:solidFill>
                <a:latin typeface="Calibri"/>
              </a:defRPr>
            </a:pPr>
            <a:r>
              <a:t>AI-Developed, Rule-Based Static Analysis for Aerospace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326880" y="73152"/>
            <a:ext cx="2560320" cy="411480"/>
          </a:xfrm>
          <a:prstGeom prst="roundRect">
            <a:avLst/>
          </a:prstGeom>
          <a:solidFill>
            <a:srgbClr val="11182E"/>
          </a:solidFill>
          <a:ln w="19050">
            <a:solidFill>
              <a:srgbClr val="F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6B00"/>
                </a:solidFill>
              </a:defRPr>
            </a:pPr>
            <a:r>
              <a:t>CNS AI Day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868680"/>
            <a:ext cx="11612880" cy="18288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FF6B00"/>
                </a:solidFill>
                <a:latin typeface="Calibri"/>
              </a:defRPr>
            </a:pPr>
            <a:r>
              <a:t>  CORE FEATURES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417320"/>
            <a:ext cx="34747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Aerospace Compliance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600200"/>
            <a:ext cx="34747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CCCCDD"/>
                </a:solidFill>
                <a:latin typeface="Calibri"/>
              </a:defRPr>
            </a:pPr>
            <a:r>
              <a:t>  DO-178C, MISRA, CERT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5960"/>
            <a:ext cx="34747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100% Secure &amp; Offline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148840"/>
            <a:ext cx="34747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CCCCDD"/>
                </a:solidFill>
                <a:latin typeface="Calibri"/>
              </a:defRPr>
            </a:pPr>
            <a:r>
              <a:t>  Source never leaves machine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514600"/>
            <a:ext cx="34747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No AI Tokens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697480"/>
            <a:ext cx="34747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CCCCDD"/>
                </a:solidFill>
                <a:latin typeface="Calibri"/>
              </a:defRPr>
            </a:pPr>
            <a:r>
              <a:t>  Runs 100% offline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063240"/>
            <a:ext cx="34747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Reduces SME Dependency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246120"/>
            <a:ext cx="34747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CCCCDD"/>
                </a:solidFill>
                <a:latin typeface="Calibri"/>
              </a:defRPr>
            </a:pPr>
            <a:r>
              <a:t>  80% reduction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105156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FF6B00"/>
                </a:solidFill>
                <a:latin typeface="Calibri"/>
              </a:defRPr>
            </a:pPr>
            <a:r>
              <a:t>⚖  WORK DETAILS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06240" y="1417320"/>
            <a:ext cx="2103120" cy="384048"/>
          </a:xfrm>
          <a:prstGeom prst="roundRect">
            <a:avLst/>
          </a:prstGeom>
          <a:solidFill>
            <a:srgbClr val="3A1515"/>
          </a:solidFill>
          <a:ln w="12700">
            <a:solidFill>
              <a:srgbClr val="F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4444"/>
                </a:solidFill>
              </a:defRPr>
            </a:pPr>
            <a:r>
              <a:t>MANUAL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79" y="1417320"/>
            <a:ext cx="2103120" cy="384048"/>
          </a:xfrm>
          <a:prstGeom prst="roundRect">
            <a:avLst/>
          </a:prstGeom>
          <a:solidFill>
            <a:srgbClr val="0F2E1A"/>
          </a:solidFill>
          <a:ln w="12700">
            <a:solidFill>
              <a:srgbClr val="F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CC66"/>
                </a:solidFill>
              </a:defRPr>
            </a:pPr>
            <a:r>
              <a:t>WITH TOOL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06240" y="1837943"/>
            <a:ext cx="2103120" cy="384048"/>
          </a:xfrm>
          <a:prstGeom prst="roundRect">
            <a:avLst/>
          </a:prstGeom>
          <a:solidFill>
            <a:srgbClr val="3A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900">
                <a:solidFill>
                  <a:srgbClr val="CCCCDD"/>
                </a:solidFill>
              </a:defRPr>
            </a:pPr>
            <a:r>
              <a:t>⏱ 10-15 min / defect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5079" y="1837943"/>
            <a:ext cx="2103120" cy="384048"/>
          </a:xfrm>
          <a:prstGeom prst="roundRect">
            <a:avLst/>
          </a:prstGeom>
          <a:solidFill>
            <a:srgbClr val="0F2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⚡ 1-2 min / defect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06240" y="2258568"/>
            <a:ext cx="2103120" cy="384048"/>
          </a:xfrm>
          <a:prstGeom prst="roundRect">
            <a:avLst/>
          </a:prstGeom>
          <a:solidFill>
            <a:srgbClr val="3A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900">
                <a:solidFill>
                  <a:srgbClr val="CCCCDD"/>
                </a:solidFill>
              </a:defRPr>
            </a:pPr>
            <a:r>
              <a:t>🔍 Source Code Investigation Required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55079" y="2258568"/>
            <a:ext cx="2103120" cy="384048"/>
          </a:xfrm>
          <a:prstGeom prst="roundRect">
            <a:avLst/>
          </a:prstGeom>
          <a:solidFill>
            <a:srgbClr val="0F2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🤖 Automated Analysis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06240" y="2679191"/>
            <a:ext cx="2103120" cy="384048"/>
          </a:xfrm>
          <a:prstGeom prst="roundRect">
            <a:avLst/>
          </a:prstGeom>
          <a:solidFill>
            <a:srgbClr val="3A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900">
                <a:solidFill>
                  <a:srgbClr val="CCCCDD"/>
                </a:solidFill>
              </a:defRPr>
            </a:pPr>
            <a:r>
              <a:t>🧠 Context Analysis Required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55079" y="2679191"/>
            <a:ext cx="2103120" cy="384048"/>
          </a:xfrm>
          <a:prstGeom prst="roundRect">
            <a:avLst/>
          </a:prstGeom>
          <a:solidFill>
            <a:srgbClr val="0F2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✅ One Controlled Flow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06240" y="3099815"/>
            <a:ext cx="2103120" cy="384048"/>
          </a:xfrm>
          <a:prstGeom prst="roundRect">
            <a:avLst/>
          </a:prstGeom>
          <a:solidFill>
            <a:srgbClr val="3A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900">
                <a:solidFill>
                  <a:srgbClr val="CCCCDD"/>
                </a:solidFill>
              </a:defRPr>
            </a:pPr>
            <a:r>
              <a:t>📝 Disposition &amp; Documentation Required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55079" y="3099815"/>
            <a:ext cx="2103120" cy="384048"/>
          </a:xfrm>
          <a:prstGeom prst="roundRect">
            <a:avLst/>
          </a:prstGeom>
          <a:solidFill>
            <a:srgbClr val="0F2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📊 Higher Quality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59" y="3593591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FF6B00"/>
                </a:solidFill>
                <a:latin typeface="Calibri"/>
              </a:defRPr>
            </a:pPr>
            <a:r>
              <a:t>~90%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59" y="3941063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CCCCDD"/>
                </a:solidFill>
                <a:latin typeface="Calibri"/>
              </a:defRPr>
            </a:pPr>
            <a:r>
              <a:t>Time Reduction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434840"/>
            <a:ext cx="4114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FF6B00"/>
                </a:solidFill>
                <a:latin typeface="Calibri"/>
              </a:defRPr>
            </a:pPr>
            <a:r>
              <a:t>💰  COST SAVINGS PER PROGRAM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754879"/>
            <a:ext cx="5943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RL1 (1,000 defects): 250 hrs → 33 hrs =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4754879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F6B00"/>
                </a:solidFill>
                <a:latin typeface="Calibri"/>
              </a:defRPr>
            </a:pPr>
            <a:r>
              <a:t>217 hrs SAVED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029199"/>
            <a:ext cx="5943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Program (4,000 defects): 1,000 hrs → 133 hrs =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5029199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F6B00"/>
                </a:solidFill>
                <a:latin typeface="Calibri"/>
              </a:defRPr>
            </a:pPr>
            <a:r>
              <a:t>867 hrs SAVED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5321807"/>
            <a:ext cx="5943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FCC00"/>
                </a:solidFill>
                <a:latin typeface="Calibri"/>
              </a:defRPr>
            </a:pPr>
            <a:r>
              <a:t>RL1: $7,595  |  Program: $30,345  per release (at $35/hr)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498079" y="1280160"/>
            <a:ext cx="1463040" cy="1097280"/>
          </a:xfrm>
          <a:prstGeom prst="roundRect">
            <a:avLst/>
          </a:prstGeom>
          <a:solidFill>
            <a:srgbClr val="11182E"/>
          </a:solidFill>
          <a:ln w="19050">
            <a:solidFill>
              <a:srgbClr val="00C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/>
            </a:pPr>
            <a:r>
              <a:t>📄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Coverity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report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79" y="1051560"/>
            <a:ext cx="14630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0">
                <a:solidFill>
                  <a:srgbClr val="CCCCDD"/>
                </a:solidFill>
                <a:latin typeface="Calibri"/>
              </a:defRPr>
            </a:pPr>
            <a:r>
              <a:t>Input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8869680" y="1691640"/>
            <a:ext cx="640080" cy="274320"/>
          </a:xfrm>
          <a:prstGeom prst="rightArrow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418319" y="1280160"/>
            <a:ext cx="1828800" cy="1097280"/>
          </a:xfrm>
          <a:prstGeom prst="roundRect">
            <a:avLst/>
          </a:prstGeom>
          <a:solidFill>
            <a:srgbClr val="11182E"/>
          </a:solidFill>
          <a:ln w="19050">
            <a:solidFill>
              <a:srgbClr val="00C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/>
            </a:pPr>
            <a:r>
              <a:t>🌳</a:t>
            </a:r>
          </a:p>
          <a:p>
            <a:pPr algn="ctr">
              <a:defRPr sz="1000">
                <a:solidFill>
                  <a:srgbClr val="00CCFF"/>
                </a:solidFill>
              </a:defRPr>
            </a:pPr>
            <a:r>
              <a:t>Tree-sitter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3999" y="914400"/>
            <a:ext cx="23774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0">
                <a:solidFill>
                  <a:srgbClr val="CCCCDD"/>
                </a:solidFill>
                <a:latin typeface="Calibri"/>
              </a:defRPr>
            </a:pPr>
            <a:r>
              <a:t>Processing Stage 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3999" y="1051560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Source Parser</a:t>
            </a:r>
          </a:p>
        </p:txBody>
      </p:sp>
      <p:sp>
        <p:nvSpPr>
          <p:cNvPr id="43" name="Down Arrow 42"/>
          <p:cNvSpPr/>
          <p:nvPr/>
        </p:nvSpPr>
        <p:spPr>
          <a:xfrm>
            <a:off x="10241280" y="2331720"/>
            <a:ext cx="274320" cy="457200"/>
          </a:xfrm>
          <a:prstGeom prst="downArrow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601200" y="2743200"/>
            <a:ext cx="2194560" cy="1097280"/>
          </a:xfrm>
          <a:prstGeom prst="roundRect">
            <a:avLst/>
          </a:prstGeom>
          <a:solidFill>
            <a:srgbClr val="11182E"/>
          </a:solidFill>
          <a:ln w="19050">
            <a:solidFill>
              <a:srgbClr val="F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/>
            </a:pPr>
            <a:r>
              <a:t>⚙️</a:t>
            </a:r>
          </a:p>
          <a:p>
            <a:pPr algn="ctr">
              <a:defRPr sz="1200" b="1">
                <a:solidFill>
                  <a:srgbClr val="FF6B00"/>
                </a:solidFill>
              </a:defRPr>
            </a:pPr>
            <a:r>
              <a:t>Rule Engine</a:t>
            </a:r>
          </a:p>
          <a:p>
            <a:pPr algn="ctr">
              <a:defRPr sz="900">
                <a:solidFill>
                  <a:srgbClr val="CCCCDD"/>
                </a:solidFill>
              </a:defRPr>
            </a:pPr>
            <a:r>
              <a:t>20+ Checker Rules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26880" y="2468880"/>
            <a:ext cx="2743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0">
                <a:solidFill>
                  <a:srgbClr val="CCCCDD"/>
                </a:solidFill>
                <a:latin typeface="Calibri"/>
              </a:defRPr>
            </a:pPr>
            <a:r>
              <a:t>Processing Stage 2</a:t>
            </a:r>
          </a:p>
        </p:txBody>
      </p:sp>
      <p:sp>
        <p:nvSpPr>
          <p:cNvPr id="46" name="Left Arrow 45"/>
          <p:cNvSpPr/>
          <p:nvPr/>
        </p:nvSpPr>
        <p:spPr>
          <a:xfrm>
            <a:off x="9692640" y="3794760"/>
            <a:ext cx="457200" cy="274320"/>
          </a:xfrm>
          <a:prstGeom prst="leftArrow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772400" y="4023360"/>
            <a:ext cx="2011680" cy="1097280"/>
          </a:xfrm>
          <a:prstGeom prst="roundRect">
            <a:avLst/>
          </a:prstGeom>
          <a:solidFill>
            <a:srgbClr val="11182E"/>
          </a:solidFill>
          <a:ln w="19050"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/>
            </a:pPr>
            <a:r>
              <a:t>🧠</a:t>
            </a:r>
          </a:p>
          <a:p>
            <a:pPr algn="ctr">
              <a:defRPr sz="1100" b="1">
                <a:solidFill>
                  <a:srgbClr val="FF9933"/>
                </a:solidFill>
              </a:defRPr>
            </a:pPr>
            <a:r>
              <a:t>AI-Optimized</a:t>
            </a:r>
          </a:p>
          <a:p>
            <a:pPr algn="ctr">
              <a:defRPr sz="1100">
                <a:solidFill>
                  <a:srgbClr val="FF9933"/>
                </a:solidFill>
              </a:defRPr>
            </a:pPr>
            <a:r>
              <a:t>Analysis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98079" y="3749039"/>
            <a:ext cx="25603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0">
                <a:solidFill>
                  <a:srgbClr val="CCCCDD"/>
                </a:solidFill>
                <a:latin typeface="Calibri"/>
              </a:defRPr>
            </a:pPr>
            <a:r>
              <a:t>Processing Stage 3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9738360" y="4434840"/>
            <a:ext cx="548640" cy="274320"/>
          </a:xfrm>
          <a:prstGeom prst="rightArrow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0241280" y="4023360"/>
            <a:ext cx="1645920" cy="1097280"/>
          </a:xfrm>
          <a:prstGeom prst="roundRect">
            <a:avLst/>
          </a:prstGeom>
          <a:solidFill>
            <a:srgbClr val="11182E"/>
          </a:solidFill>
          <a:ln w="19050">
            <a:solidFill>
              <a:srgbClr val="00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/>
            </a:pPr>
            <a:r>
              <a:t>✅</a:t>
            </a:r>
          </a:p>
          <a:p>
            <a:pPr algn="ctr">
              <a:defRPr sz="1100" b="1">
                <a:solidFill>
                  <a:srgbClr val="00CC66"/>
                </a:solidFill>
              </a:defRPr>
            </a:pPr>
            <a:r>
              <a:t>Smart</a:t>
            </a:r>
          </a:p>
          <a:p>
            <a:pPr algn="ctr">
              <a:defRPr sz="1100">
                <a:solidFill>
                  <a:srgbClr val="00CC66"/>
                </a:solidFill>
              </a:defRPr>
            </a:pPr>
            <a:r>
              <a:t>Dispositions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40879" y="5440680"/>
            <a:ext cx="5029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CCCCDD"/>
                </a:solidFill>
                <a:latin typeface="Calibri"/>
              </a:defRPr>
            </a:pPr>
            <a:r>
              <a:t>AI used to DEVELOP, analysis is RULE-BASED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74320" y="640080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0">
                <a:solidFill>
                  <a:srgbClr val="8888AA"/>
                </a:solidFill>
                <a:latin typeface="Calibri"/>
              </a:defRPr>
            </a:pPr>
            <a:r>
              <a:t>Rakesh Boya  |  Tool Owner &amp; Developer  |  Honeywell Aerospace  |  CNS AI Day 2026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4320" y="658368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8888AA"/>
                </a:solidFill>
                <a:latin typeface="Calibri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