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2130" y="160734"/>
            <a:ext cx="3659280" cy="6498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32" b="1">
                <a:solidFill>
                  <a:srgbClr val="F9FBFC"/>
                </a:solidFill>
                <a:latin typeface="Arial"/>
              </a:rPr>
              <a:t>Honeywell </a:t>
            </a:r>
            <a:r>
              <a:rPr sz="2132" b="0">
                <a:solidFill>
                  <a:srgbClr val="F9FBFC"/>
                </a:solidFill>
                <a:latin typeface="Arial"/>
              </a:rPr>
              <a:t>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6634" y="178593"/>
            <a:ext cx="2631492" cy="5192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3" b="1">
                <a:solidFill>
                  <a:srgbClr val="EE6E1E"/>
                </a:solidFill>
                <a:latin typeface="Arial"/>
              </a:rPr>
              <a:t>CNS AI Day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7120" y="696515"/>
            <a:ext cx="11841715" cy="11963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25" b="1">
                <a:solidFill>
                  <a:srgbClr val="F9FBFC"/>
                </a:solidFill>
                <a:latin typeface="Arial"/>
              </a:rPr>
              <a:t>COVERITY FINDINGS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3938" y="1312664"/>
            <a:ext cx="10486098" cy="60576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87" b="0">
                <a:solidFill>
                  <a:srgbClr val="F9FBFC"/>
                </a:solidFill>
                <a:latin typeface="Arial"/>
              </a:rPr>
              <a:t>AI-Developed, Rule-Based Static Analysis for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01" y="1946671"/>
            <a:ext cx="2994762" cy="629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EE6E1E"/>
                </a:solidFill>
                <a:latin typeface="Arial"/>
              </a:rPr>
              <a:t>CORE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1099" y="2366367"/>
            <a:ext cx="3065644" cy="4787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>
                <a:solidFill>
                  <a:srgbClr val="F9FBFC"/>
                </a:solidFill>
                <a:latin typeface="Arial"/>
              </a:rPr>
              <a:t>Aerospace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959" y="2687835"/>
            <a:ext cx="3047923" cy="4423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1" b="0">
                <a:solidFill>
                  <a:srgbClr val="F9FBFC"/>
                </a:solidFill>
                <a:latin typeface="Arial"/>
              </a:rPr>
              <a:t>- DO-178C, MISRA, CERT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819" y="2991445"/>
            <a:ext cx="2950461" cy="45861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4" b="1">
                <a:solidFill>
                  <a:srgbClr val="F9FBFC"/>
                </a:solidFill>
                <a:latin typeface="Arial"/>
              </a:rPr>
              <a:t>100% Secure &amp;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59" y="3232546"/>
            <a:ext cx="3420054" cy="41290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4" b="0">
                <a:solidFill>
                  <a:srgbClr val="F9FBFC"/>
                </a:solidFill>
                <a:latin typeface="Arial"/>
              </a:rPr>
              <a:t>- Source never leaves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819" y="3580804"/>
            <a:ext cx="3003622" cy="474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6" b="1">
                <a:solidFill>
                  <a:srgbClr val="F9FBFC"/>
                </a:solidFill>
                <a:latin typeface="Arial"/>
              </a:rPr>
              <a:t>No AI Tokens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959" y="3839765"/>
            <a:ext cx="2489728" cy="4188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74" b="0">
                <a:solidFill>
                  <a:srgbClr val="F9FBFC"/>
                </a:solidFill>
                <a:latin typeface="Arial"/>
              </a:rPr>
              <a:t>- Runs 100%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819" y="4188023"/>
            <a:ext cx="3411193" cy="47700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4" b="1">
                <a:solidFill>
                  <a:srgbClr val="F9FBFC"/>
                </a:solidFill>
                <a:latin typeface="Arial"/>
              </a:rPr>
              <a:t>Reduces SME Dependency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59" y="4446984"/>
            <a:ext cx="2161899" cy="4172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>
                <a:solidFill>
                  <a:srgbClr val="F9FBFC"/>
                </a:solidFill>
                <a:latin typeface="Arial"/>
              </a:rPr>
              <a:t>- 80%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0271" y="1946671"/>
            <a:ext cx="4022550" cy="63038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8" b="1">
                <a:solidFill>
                  <a:srgbClr val="EE6E1E"/>
                </a:solidFill>
                <a:latin typeface="Arial"/>
              </a:rPr>
              <a:t>MANUAL vs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5345" y="2411015"/>
            <a:ext cx="2206200" cy="3671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4" b="1">
                <a:solidFill>
                  <a:srgbClr val="F9FBFC"/>
                </a:solidFill>
                <a:latin typeface="Arial"/>
              </a:rPr>
              <a:t>MANUAL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384" y="2411015"/>
            <a:ext cx="2516309" cy="3616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6" b="1">
                <a:solidFill>
                  <a:srgbClr val="F9FBFC"/>
                </a:solidFill>
                <a:latin typeface="Arial"/>
              </a:rPr>
              <a:t>AUTOMATED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1044" y="2759273"/>
            <a:ext cx="2489728" cy="3234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1" b="0">
                <a:solidFill>
                  <a:srgbClr val="F9FBFC"/>
                </a:solidFill>
                <a:latin typeface="Arial"/>
              </a:rPr>
              <a:t>10-15 minutes per defect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2184" y="3062882"/>
            <a:ext cx="1674586" cy="33904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2" b="0">
                <a:solidFill>
                  <a:srgbClr val="F9FBFC"/>
                </a:solidFill>
                <a:latin typeface="Arial"/>
              </a:rPr>
              <a:t>Source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1044" y="3250406"/>
            <a:ext cx="2303663" cy="3238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2" b="0">
                <a:solidFill>
                  <a:srgbClr val="F9FBFC"/>
                </a:solidFill>
                <a:latin typeface="Arial"/>
              </a:rPr>
              <a:t>Investigation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2184" y="3545085"/>
            <a:ext cx="2587191" cy="32837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7" b="0">
                <a:solidFill>
                  <a:srgbClr val="F9FBFC"/>
                </a:solidFill>
                <a:latin typeface="Arial"/>
              </a:rPr>
              <a:t>Context Analysis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2184" y="3830835"/>
            <a:ext cx="1887231" cy="4031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2" b="0">
                <a:solidFill>
                  <a:srgbClr val="F9FBFC"/>
                </a:solidFill>
                <a:latin typeface="Arial"/>
              </a:rPr>
              <a:t>Disposition &amp;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2184" y="4054078"/>
            <a:ext cx="2480868" cy="32811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9FBFC"/>
                </a:solidFill>
                <a:latin typeface="Arial"/>
              </a:rPr>
              <a:t>Documentation Required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1546" y="2768203"/>
            <a:ext cx="2330244" cy="3265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1" b="0">
                <a:solidFill>
                  <a:srgbClr val="F9FBFC"/>
                </a:solidFill>
                <a:latin typeface="Arial"/>
              </a:rPr>
              <a:t>1-2 minutes per defect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3825" y="3143250"/>
            <a:ext cx="2161899" cy="32939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9FBFC"/>
                </a:solidFill>
                <a:latin typeface="Arial"/>
              </a:rPr>
              <a:t>Automated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2686" y="3518296"/>
            <a:ext cx="2206200" cy="336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4" b="0">
                <a:solidFill>
                  <a:srgbClr val="F9FBFC"/>
                </a:solidFill>
                <a:latin typeface="Arial"/>
              </a:rPr>
              <a:t>One Controlled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2686" y="3884414"/>
            <a:ext cx="1772048" cy="32710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3" b="0">
                <a:solidFill>
                  <a:srgbClr val="F9FBFC"/>
                </a:solidFill>
                <a:latin typeface="Arial"/>
              </a:rPr>
              <a:t>Higher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4182" y="4393406"/>
            <a:ext cx="4850983" cy="7019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2" b="1">
                <a:solidFill>
                  <a:srgbClr val="F6962D"/>
                </a:solidFill>
                <a:latin typeface="Arial"/>
              </a:rPr>
              <a:t>~90% Time Reduction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1301" y="1964531"/>
            <a:ext cx="2215060" cy="31062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F9FBFC"/>
                </a:solidFill>
                <a:latin typeface="Arial"/>
              </a:rPr>
              <a:t>* AI used to DEVELOP,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1301" y="2134195"/>
            <a:ext cx="2356824" cy="31742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" b="0">
                <a:solidFill>
                  <a:srgbClr val="F9FBFC"/>
                </a:solidFill>
                <a:latin typeface="Arial"/>
              </a:rPr>
              <a:t>analysis is RULE-BASED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0582" y="3429000"/>
            <a:ext cx="2303663" cy="38241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4" b="1">
                <a:solidFill>
                  <a:srgbClr val="F9FBFC"/>
                </a:solidFill>
                <a:latin typeface="Arial"/>
              </a:rPr>
              <a:t>HTML/Excel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52" y="3625453"/>
            <a:ext cx="2303663" cy="3817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2" b="1">
                <a:solidFill>
                  <a:srgbClr val="F9FBFC"/>
                </a:solidFill>
                <a:latin typeface="Arial"/>
              </a:rPr>
              <a:t>Reports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1770" y="4429125"/>
            <a:ext cx="2303663" cy="41744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9" b="1">
                <a:solidFill>
                  <a:srgbClr val="F9FBFC"/>
                </a:solidFill>
                <a:latin typeface="Arial"/>
              </a:rPr>
              <a:t>Rules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00759" y="4670226"/>
            <a:ext cx="2303663" cy="38262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5" b="1">
                <a:solidFill>
                  <a:srgbClr val="F9FBFC"/>
                </a:solidFill>
                <a:latin typeface="Arial"/>
              </a:rPr>
              <a:t>AI Developed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6200" y="4857750"/>
            <a:ext cx="2303663" cy="324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6" b="0">
                <a:solidFill>
                  <a:srgbClr val="F9FBFC"/>
                </a:solidFill>
                <a:latin typeface="Arial"/>
              </a:rPr>
              <a:t>20+ Checker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57584" y="5482828"/>
            <a:ext cx="1293595" cy="4064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3" b="1">
                <a:solidFill>
                  <a:srgbClr val="F9FBFC"/>
                </a:solidFill>
                <a:latin typeface="Arial"/>
              </a:rPr>
              <a:t>Smart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74056" y="5715000"/>
            <a:ext cx="1860651" cy="4303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1" b="1">
                <a:solidFill>
                  <a:srgbClr val="F9FBFC"/>
                </a:solidFill>
                <a:latin typeface="Arial"/>
              </a:rPr>
              <a:t>Dispositions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4802" y="5598914"/>
            <a:ext cx="2374545" cy="3716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9" b="0">
                <a:solidFill>
                  <a:srgbClr val="F9FBFC"/>
                </a:solidFill>
                <a:latin typeface="Arial"/>
              </a:rPr>
              <a:t>AI used to DEVELOP,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4802" y="5777507"/>
            <a:ext cx="2383405" cy="3228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F9FBFC"/>
                </a:solidFill>
                <a:latin typeface="Arial"/>
              </a:rPr>
              <a:t>analysis is RULE-BASED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862" y="5054203"/>
            <a:ext cx="4837693" cy="6375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91" b="1">
                <a:solidFill>
                  <a:srgbClr val="EE6E1E"/>
                </a:solidFill>
                <a:latin typeface="Arial"/>
              </a:rPr>
              <a:t>COST SAVINGS PER PROGRAM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400" y="5464968"/>
            <a:ext cx="6592021" cy="50022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41" b="0">
                <a:solidFill>
                  <a:srgbClr val="F9FBFC"/>
                </a:solidFill>
                <a:latin typeface="Arial"/>
              </a:rPr>
              <a:t>RL1 (1,000 defects): 250 hrs → 33 hrs = </a:t>
            </a:r>
            <a:r>
              <a:rPr sz="1641" b="1">
                <a:solidFill>
                  <a:srgbClr val="F6962D"/>
                </a:solidFill>
                <a:latin typeface="Arial"/>
              </a:rPr>
              <a:t>217 hrs SAVED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5400" y="5768578"/>
            <a:ext cx="7318561" cy="4985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5" b="0">
                <a:solidFill>
                  <a:srgbClr val="F9FBFC"/>
                </a:solidFill>
                <a:latin typeface="Arial"/>
              </a:rPr>
              <a:t>Program (4,000 defects): 1000 hrs → 133 hrs = </a:t>
            </a:r>
            <a:r>
              <a:rPr sz="1635" b="1">
                <a:solidFill>
                  <a:srgbClr val="F6962D"/>
                </a:solidFill>
                <a:latin typeface="Arial"/>
              </a:rPr>
              <a:t>867 hrs SAVED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5400" y="6098976"/>
            <a:ext cx="5484490" cy="48860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3" b="0">
                <a:solidFill>
                  <a:srgbClr val="F9FBFC"/>
                </a:solidFill>
                <a:latin typeface="Arial"/>
              </a:rPr>
              <a:t>Cost: $7,595 - $30,345 per release (at $30/hr)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3982" y="6607968"/>
            <a:ext cx="9834870" cy="33892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1" b="0">
                <a:solidFill>
                  <a:srgbClr val="F9FBFC"/>
                </a:solidFill>
                <a:latin typeface="Arial"/>
              </a:rPr>
              <a:t>Rakesh Boya | Tool Owner &amp; Developer | Honeywell Aerospace | CNS AI Day 2026 |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