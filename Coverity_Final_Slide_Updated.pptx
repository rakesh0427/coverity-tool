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151804"/>
            <a:ext cx="3867149" cy="5500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68" b="1">
                <a:solidFill>
                  <a:srgbClr val="F9FBFC"/>
                </a:solidFill>
                <a:latin typeface="DejaVu Sans"/>
              </a:rPr>
              <a:t>Honeywell </a:t>
            </a:r>
            <a:r>
              <a:rPr sz="1968" b="0">
                <a:solidFill>
                  <a:srgbClr val="F9FBFC"/>
                </a:solidFill>
                <a:latin typeface="DejaVu Sans"/>
              </a:rPr>
              <a:t>Aerospace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5625" y="205382"/>
            <a:ext cx="2352675" cy="3929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6" b="1">
                <a:solidFill>
                  <a:srgbClr val="EE6E1E"/>
                </a:solidFill>
                <a:latin typeface="DejaVu Sans"/>
              </a:rPr>
              <a:t>CNS AI Day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9439" y="705445"/>
            <a:ext cx="11457146" cy="98226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515" b="1">
                <a:solidFill>
                  <a:srgbClr val="F9FBFC"/>
                </a:solidFill>
                <a:latin typeface="DejaVu Sans"/>
              </a:rPr>
              <a:t>COVERITY FINDINGS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0898" y="1321593"/>
            <a:ext cx="10145553" cy="5500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68" b="0">
                <a:solidFill>
                  <a:srgbClr val="F9FBFC"/>
                </a:solidFill>
                <a:latin typeface="DejaVu Sans"/>
              </a:rPr>
              <a:t>AI-Developed, Rule-Based Static Analysis for Aerospace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973460"/>
            <a:ext cx="3067050" cy="51077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8" b="1">
                <a:solidFill>
                  <a:srgbClr val="EE6E1E"/>
                </a:solidFill>
                <a:latin typeface="DejaVu Sans"/>
              </a:rPr>
              <a:t>CORE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2375296"/>
            <a:ext cx="3200400" cy="3929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6" b="1">
                <a:solidFill>
                  <a:srgbClr val="F9FBFC"/>
                </a:solidFill>
                <a:latin typeface="DejaVu Sans"/>
              </a:rPr>
              <a:t>Aerospace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2475" y="2598539"/>
            <a:ext cx="3181350" cy="41255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76" b="0">
                <a:solidFill>
                  <a:srgbClr val="F9FBFC"/>
                </a:solidFill>
                <a:latin typeface="DejaVu Sans"/>
              </a:rPr>
              <a:t>- DO-178C, MISRA, CERT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991445"/>
            <a:ext cx="3086100" cy="3732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35" b="1">
                <a:solidFill>
                  <a:srgbClr val="F9FBFC"/>
                </a:solidFill>
                <a:latin typeface="DejaVu Sans"/>
              </a:rPr>
              <a:t>100% Secure &amp;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475" y="3250406"/>
            <a:ext cx="3581400" cy="3732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35" b="0">
                <a:solidFill>
                  <a:srgbClr val="F9FBFC"/>
                </a:solidFill>
                <a:latin typeface="DejaVu Sans"/>
              </a:rPr>
              <a:t>- Source never leaves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3580804"/>
            <a:ext cx="3133724" cy="3732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35" b="1">
                <a:solidFill>
                  <a:srgbClr val="F9FBFC"/>
                </a:solidFill>
                <a:latin typeface="DejaVu Sans"/>
              </a:rPr>
              <a:t>No AI Tokens Required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75" y="3848695"/>
            <a:ext cx="2581275" cy="3732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35" b="0">
                <a:solidFill>
                  <a:srgbClr val="F9FBFC"/>
                </a:solidFill>
                <a:latin typeface="DejaVu Sans"/>
              </a:rPr>
              <a:t>- Runs 100% offline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4179093"/>
            <a:ext cx="3571875" cy="3929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6" b="1">
                <a:solidFill>
                  <a:srgbClr val="F9FBFC"/>
                </a:solidFill>
                <a:latin typeface="DejaVu Sans"/>
              </a:rPr>
              <a:t>Reduces SME Dependency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475" y="4402335"/>
            <a:ext cx="2600325" cy="47148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7" b="0">
                <a:solidFill>
                  <a:srgbClr val="F9FBFC"/>
                </a:solidFill>
                <a:latin typeface="DejaVu Sans"/>
              </a:rPr>
              <a:t>- 80% reduction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3875" y="1955601"/>
            <a:ext cx="4248150" cy="51077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8" b="1">
                <a:solidFill>
                  <a:srgbClr val="EE6E1E"/>
                </a:solidFill>
                <a:latin typeface="DejaVu Sans"/>
              </a:rPr>
              <a:t>MANUAL vs 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4324" y="2419945"/>
            <a:ext cx="2286000" cy="35361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5" b="1">
                <a:solidFill>
                  <a:srgbClr val="F9FBFC"/>
                </a:solidFill>
                <a:latin typeface="DejaVu Sans"/>
              </a:rPr>
              <a:t>MANUAL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8425" y="2509242"/>
            <a:ext cx="2609850" cy="35361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5" b="1">
                <a:solidFill>
                  <a:srgbClr val="F9FBFC"/>
                </a:solidFill>
                <a:latin typeface="DejaVu Sans"/>
              </a:rPr>
              <a:t>AUTOMATED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6225" y="2759273"/>
            <a:ext cx="2581275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10-15 minutes per defect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6699" y="3053953"/>
            <a:ext cx="1714500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Source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86225" y="3250406"/>
            <a:ext cx="2381250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Investigation Required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6225" y="3607593"/>
            <a:ext cx="2628900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Context Analysis Required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6699" y="3857625"/>
            <a:ext cx="1876424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Disposition &amp;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6699" y="4071937"/>
            <a:ext cx="2571750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Documentation Required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575" y="2857500"/>
            <a:ext cx="2419349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1-2 minutes per defect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6525" y="3152179"/>
            <a:ext cx="2228850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Automated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6049" y="3509367"/>
            <a:ext cx="2276474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One Controlled 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6049" y="3884414"/>
            <a:ext cx="1809749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Higher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3078" y="4393406"/>
            <a:ext cx="4693443" cy="5893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9" b="1">
                <a:solidFill>
                  <a:srgbClr val="F6962D"/>
                </a:solidFill>
                <a:latin typeface="DejaVu Sans"/>
              </a:rPr>
              <a:t>~90% Time Reduction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0900" y="1991320"/>
            <a:ext cx="1943100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* AI used to DEVELOP,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0900" y="2143125"/>
            <a:ext cx="1943100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analysis is RULE-BASED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9575" y="3429000"/>
            <a:ext cx="2286000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F9FBFC"/>
                </a:solidFill>
                <a:latin typeface="DejaVu Sans"/>
              </a:rPr>
              <a:t>HTML/Excel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91474" y="3714750"/>
            <a:ext cx="2286000" cy="29467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F9FBFC"/>
                </a:solidFill>
                <a:latin typeface="DejaVu Sans"/>
              </a:rPr>
              <a:t>Reports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91649" y="4446984"/>
            <a:ext cx="2286000" cy="3339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95" b="1">
                <a:solidFill>
                  <a:srgbClr val="F9FBFC"/>
                </a:solidFill>
                <a:latin typeface="DejaVu Sans"/>
              </a:rPr>
              <a:t>Rules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1175" y="4723804"/>
            <a:ext cx="2286000" cy="29467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F9FBFC"/>
                </a:solidFill>
                <a:latin typeface="DejaVu Sans"/>
              </a:rPr>
              <a:t>AI Developed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2137" y="4947046"/>
            <a:ext cx="2286000" cy="29467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9FBFC"/>
                </a:solidFill>
                <a:latin typeface="DejaVu Sans"/>
              </a:rPr>
              <a:t>20+ Checker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87100" y="5313164"/>
            <a:ext cx="1838324" cy="3929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6" b="1">
                <a:solidFill>
                  <a:srgbClr val="F9FBFC"/>
                </a:solidFill>
                <a:latin typeface="DejaVu Sans"/>
              </a:rPr>
              <a:t>Smart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20449" y="5643562"/>
            <a:ext cx="1733550" cy="3929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6" b="1">
                <a:solidFill>
                  <a:srgbClr val="F9FBFC"/>
                </a:solidFill>
                <a:latin typeface="DejaVu Sans"/>
              </a:rPr>
              <a:t>Dispositions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77374" y="5572125"/>
            <a:ext cx="2476499" cy="35361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5" b="0">
                <a:solidFill>
                  <a:srgbClr val="F9FBFC"/>
                </a:solidFill>
                <a:latin typeface="DejaVu Sans"/>
              </a:rPr>
              <a:t>AI used to DEVELOP,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58325" y="5786437"/>
            <a:ext cx="2543175" cy="3143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F9FBFC"/>
                </a:solidFill>
                <a:latin typeface="DejaVu Sans"/>
              </a:rPr>
              <a:t>analysis is RULE-BASED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825" y="5054203"/>
            <a:ext cx="5114925" cy="53042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98" b="1">
                <a:solidFill>
                  <a:srgbClr val="EE6E1E"/>
                </a:solidFill>
                <a:latin typeface="DejaVu Sans"/>
              </a:rPr>
              <a:t>COST SAVINGS PER PROGRAM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574" y="5464968"/>
            <a:ext cx="6991350" cy="45184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7" b="0">
                <a:solidFill>
                  <a:srgbClr val="F9FBFC"/>
                </a:solidFill>
                <a:latin typeface="DejaVu Sans"/>
              </a:rPr>
              <a:t>RL1 (1,000 defects): 250 hrs → 33 hrs = </a:t>
            </a:r>
            <a:r>
              <a:rPr sz="1617" b="1">
                <a:solidFill>
                  <a:srgbClr val="F6962D"/>
                </a:solidFill>
                <a:latin typeface="DejaVu Sans"/>
              </a:rPr>
              <a:t>217 hrs SAVED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574" y="5786437"/>
            <a:ext cx="7781924" cy="45184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7" b="0">
                <a:solidFill>
                  <a:srgbClr val="F9FBFC"/>
                </a:solidFill>
                <a:latin typeface="DejaVu Sans"/>
              </a:rPr>
              <a:t>Program (4,000 defects): 1000 hrs → 133 hrs = </a:t>
            </a:r>
            <a:r>
              <a:rPr sz="1617" b="1">
                <a:solidFill>
                  <a:srgbClr val="F6962D"/>
                </a:solidFill>
                <a:latin typeface="DejaVu Sans"/>
              </a:rPr>
              <a:t>867 hrs SAVED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574" y="6098976"/>
            <a:ext cx="5781674" cy="45184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7" b="0">
                <a:solidFill>
                  <a:srgbClr val="F9FBFC"/>
                </a:solidFill>
                <a:latin typeface="DejaVu Sans"/>
              </a:rPr>
              <a:t>Cost: $7,595 - $30,345 per release (at $30/hr)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60458" y="6607968"/>
            <a:ext cx="9528333" cy="29467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9FBFC"/>
                </a:solidFill>
                <a:latin typeface="DejaVu Sans"/>
              </a:rPr>
              <a:t>Rakesh Boya | Tool Owner &amp; Developer | Honeywell Aerospace | CNS AI Day 2026 |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