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77440" y="109728"/>
            <a:ext cx="411480" cy="411480"/>
          </a:xfrm>
          <a:prstGeom prst="ellipse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34640" y="457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6B00"/>
                </a:solidFill>
                <a:latin typeface="Calibri"/>
              </a:defRPr>
            </a:pPr>
            <a:r>
              <a:t>COVERITY FINDINGS 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8534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t>AI-Developed, Rule-Based Static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612880" cy="18288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6B00"/>
                </a:solidFill>
                <a:latin typeface="Calibri"/>
              </a:defRPr>
            </a:pPr>
            <a:r>
              <a:t>  CORE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Aerospace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DO-178C, MISRA,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100% Secure &amp;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Source never leaves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No AI Tokens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Runs 100%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6324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Reduces SME Dependency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80% reduction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0515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6B00"/>
                </a:solidFill>
                <a:latin typeface="Calibri"/>
              </a:defRPr>
            </a:pPr>
            <a:r>
              <a:t>⚖  WORK DETAILS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417320"/>
            <a:ext cx="2103120" cy="384048"/>
          </a:xfrm>
          <a:prstGeom prst="roundRect">
            <a:avLst/>
          </a:prstGeom>
          <a:solidFill>
            <a:srgbClr val="3A1515"/>
          </a:solidFill>
          <a:ln w="1270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4444"/>
                </a:solidFill>
              </a:defRPr>
            </a:pPr>
            <a:r>
              <a:t>MANUAL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79" y="1417320"/>
            <a:ext cx="2103120" cy="384048"/>
          </a:xfrm>
          <a:prstGeom prst="roundRect">
            <a:avLst/>
          </a:prstGeom>
          <a:solidFill>
            <a:srgbClr val="0F2E1A"/>
          </a:solidFill>
          <a:ln w="1270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CC66"/>
                </a:solidFill>
              </a:defRPr>
            </a:pPr>
            <a:r>
              <a:t>WITH 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1837943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⏱ 10-15 min / defect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79" y="1837943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⚡ 1-2 min / defect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2258568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🔍 Source Code Investigation 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79" y="2258568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🤖 Automated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2679191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🧠 Context Analysis Required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79" y="2679191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✅ One Controlled 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099815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📝 Disposition &amp; Documentation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79" y="3099815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📊 Higher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3593591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6B00"/>
                </a:solidFill>
                <a:latin typeface="Calibri"/>
              </a:defRPr>
            </a:pPr>
            <a:r>
              <a:t>~90%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941063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Calibri"/>
              </a:defRPr>
            </a:pPr>
            <a:r>
              <a:t>Time Reduction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43484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6B00"/>
                </a:solidFill>
                <a:latin typeface="Calibri"/>
              </a:defRPr>
            </a:pPr>
            <a:r>
              <a:t>💰  COST SAVINGS PER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5943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RL1 (1,000 defects): 250 hrs → 33 hrs =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754879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6B00"/>
                </a:solidFill>
                <a:latin typeface="Calibri"/>
              </a:defRPr>
            </a:pPr>
            <a:r>
              <a:t>217 hrs SAVED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029199"/>
            <a:ext cx="5943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Program (4,000 defects): 1,000 hrs → 133 hrs =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029199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6B00"/>
                </a:solidFill>
                <a:latin typeface="Calibri"/>
              </a:defRPr>
            </a:pPr>
            <a:r>
              <a:t>867 hrs SAVED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321807"/>
            <a:ext cx="5943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CC00"/>
                </a:solidFill>
                <a:latin typeface="Calibri"/>
              </a:defRPr>
            </a:pPr>
            <a:r>
              <a:t>RL1: $7,595  |  Program: $30,345  per release (at $35/hr)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79" y="1280160"/>
            <a:ext cx="146304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📄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Coverity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1051560"/>
            <a:ext cx="1463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CCCCDD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869680" y="1691640"/>
            <a:ext cx="640080" cy="274320"/>
          </a:xfrm>
          <a:prstGeom prst="rightArrow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418319" y="1280160"/>
            <a:ext cx="182880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🌳</a:t>
            </a:r>
          </a:p>
          <a:p>
            <a:pPr algn="ctr">
              <a:defRPr sz="1000">
                <a:solidFill>
                  <a:srgbClr val="00CCFF"/>
                </a:solidFill>
              </a:defRPr>
            </a:pPr>
            <a:r>
              <a:t>Tree-sitter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3999" y="914400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CCCCDD"/>
                </a:solidFill>
                <a:latin typeface="Calibri"/>
              </a:defRPr>
            </a:pPr>
            <a:r>
              <a:t>Processing Stage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3999" y="10515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Source Parser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0241280" y="2331720"/>
            <a:ext cx="274320" cy="457200"/>
          </a:xfrm>
          <a:prstGeom prst="downArrow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418319" y="2743200"/>
            <a:ext cx="219456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⚙️</a:t>
            </a:r>
          </a:p>
          <a:p>
            <a:pPr algn="ctr">
              <a:defRPr sz="1200" b="1">
                <a:solidFill>
                  <a:srgbClr val="FF6B00"/>
                </a:solidFill>
              </a:defRPr>
            </a:pPr>
            <a:r>
              <a:t>Rule Engine</a:t>
            </a:r>
          </a:p>
          <a:p>
            <a:pPr algn="ctr">
              <a:defRPr sz="900">
                <a:solidFill>
                  <a:srgbClr val="CCCCDD"/>
                </a:solidFill>
              </a:defRPr>
            </a:pPr>
            <a:r>
              <a:t>20+ Checker Rules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3999" y="246888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CCCCDD"/>
                </a:solidFill>
                <a:latin typeface="Calibri"/>
              </a:defRPr>
            </a:pPr>
            <a:r>
              <a:t>Processing Stage 2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10332719" y="3840480"/>
            <a:ext cx="320040" cy="457200"/>
          </a:xfrm>
          <a:prstGeom prst="downArrow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01200" y="4389120"/>
            <a:ext cx="182880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✅</a:t>
            </a:r>
          </a:p>
          <a:p>
            <a:pPr algn="ctr">
              <a:defRPr sz="1100" b="1">
                <a:solidFill>
                  <a:srgbClr val="00CC66"/>
                </a:solidFill>
              </a:defRPr>
            </a:pPr>
            <a:r>
              <a:t>Smart</a:t>
            </a:r>
          </a:p>
          <a:p>
            <a:pPr algn="ctr">
              <a:defRPr sz="1100">
                <a:solidFill>
                  <a:srgbClr val="00CC66"/>
                </a:solidFill>
              </a:defRPr>
            </a:pPr>
            <a:r>
              <a:t>Dispositions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79" y="566928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CCCCDD"/>
                </a:solidFill>
                <a:latin typeface="Calibri"/>
              </a:defRPr>
            </a:pPr>
            <a:r>
              <a:t>AI used to DEVELOP, analysis is RULE-BASED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